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18"/>
  </p:notesMasterIdLst>
  <p:sldIdLst>
    <p:sldId id="358" r:id="rId3"/>
    <p:sldId id="359" r:id="rId4"/>
    <p:sldId id="360" r:id="rId5"/>
    <p:sldId id="371" r:id="rId6"/>
    <p:sldId id="363" r:id="rId7"/>
    <p:sldId id="369" r:id="rId8"/>
    <p:sldId id="361" r:id="rId9"/>
    <p:sldId id="370" r:id="rId10"/>
    <p:sldId id="362" r:id="rId11"/>
    <p:sldId id="354" r:id="rId12"/>
    <p:sldId id="364" r:id="rId13"/>
    <p:sldId id="365" r:id="rId14"/>
    <p:sldId id="366" r:id="rId15"/>
    <p:sldId id="367" r:id="rId16"/>
    <p:sldId id="3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13A"/>
    <a:srgbClr val="C40D1E"/>
    <a:srgbClr val="9013FE"/>
    <a:srgbClr val="1F90CC"/>
    <a:srgbClr val="434343"/>
    <a:srgbClr val="C40E02"/>
    <a:srgbClr val="FFFFFF"/>
    <a:srgbClr val="49CB40"/>
    <a:srgbClr val="C50E1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AC910-8A6D-F74E-B797-78BECFFED88E}" v="8" dt="2026-07-07T22:01:25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74548"/>
  </p:normalViewPr>
  <p:slideViewPr>
    <p:cSldViewPr snapToGrid="0" snapToObjects="1">
      <p:cViewPr varScale="1">
        <p:scale>
          <a:sx n="77" d="100"/>
          <a:sy n="77" d="100"/>
        </p:scale>
        <p:origin x="2104" y="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n Benson" userId="20edac05a9ae2f55" providerId="LiveId" clId="{0DC1E920-EB54-5318-8B25-E48E81FFB049}"/>
    <pc:docChg chg="modSld sldOrd modMainMaster">
      <pc:chgData name="Amon Benson" userId="20edac05a9ae2f55" providerId="LiveId" clId="{0DC1E920-EB54-5318-8B25-E48E81FFB049}" dt="2026-07-08T07:55:57.135" v="14" actId="20577"/>
      <pc:docMkLst>
        <pc:docMk/>
      </pc:docMkLst>
      <pc:sldChg chg="ord">
        <pc:chgData name="Amon Benson" userId="20edac05a9ae2f55" providerId="LiveId" clId="{0DC1E920-EB54-5318-8B25-E48E81FFB049}" dt="2026-07-08T07:55:35.580" v="10" actId="20578"/>
        <pc:sldMkLst>
          <pc:docMk/>
          <pc:sldMk cId="2026090156" sldId="354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283253718" sldId="364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991510381" sldId="365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1414125253" sldId="366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604556986" sldId="367"/>
        </pc:sldMkLst>
      </pc:sldChg>
      <pc:sldChg chg="ord">
        <pc:chgData name="Amon Benson" userId="20edac05a9ae2f55" providerId="LiveId" clId="{0DC1E920-EB54-5318-8B25-E48E81FFB049}" dt="2026-07-08T07:55:23.761" v="9" actId="20578"/>
        <pc:sldMkLst>
          <pc:docMk/>
          <pc:sldMk cId="3622107884" sldId="368"/>
        </pc:sldMkLst>
      </pc:sldChg>
      <pc:sldChg chg="modSp mod">
        <pc:chgData name="Amon Benson" userId="20edac05a9ae2f55" providerId="LiveId" clId="{0DC1E920-EB54-5318-8B25-E48E81FFB049}" dt="2026-07-08T07:12:15.130" v="8" actId="20577"/>
        <pc:sldMkLst>
          <pc:docMk/>
          <pc:sldMk cId="1957977642" sldId="369"/>
        </pc:sldMkLst>
        <pc:spChg chg="mod">
          <ac:chgData name="Amon Benson" userId="20edac05a9ae2f55" providerId="LiveId" clId="{0DC1E920-EB54-5318-8B25-E48E81FFB049}" dt="2026-07-08T07:12:15.130" v="8" actId="20577"/>
          <ac:spMkLst>
            <pc:docMk/>
            <pc:sldMk cId="1957977642" sldId="369"/>
            <ac:spMk id="6" creationId="{51EDEFEC-2C57-53B6-B2D8-27ADF4842729}"/>
          </ac:spMkLst>
        </pc:spChg>
      </pc:sldChg>
      <pc:sldMasterChg chg="modSp mod">
        <pc:chgData name="Amon Benson" userId="20edac05a9ae2f55" providerId="LiveId" clId="{0DC1E920-EB54-5318-8B25-E48E81FFB049}" dt="2026-07-08T07:55:57.135" v="14" actId="20577"/>
        <pc:sldMasterMkLst>
          <pc:docMk/>
          <pc:sldMasterMk cId="3907247464" sldId="2147483710"/>
        </pc:sldMasterMkLst>
        <pc:spChg chg="mod">
          <ac:chgData name="Amon Benson" userId="20edac05a9ae2f55" providerId="LiveId" clId="{0DC1E920-EB54-5318-8B25-E48E81FFB049}" dt="2026-07-08T07:55:57.135" v="14" actId="20577"/>
          <ac:spMkLst>
            <pc:docMk/>
            <pc:sldMasterMk cId="3907247464" sldId="2147483710"/>
            <ac:spMk id="19" creationId="{AFF88A13-194B-9248-BDFD-1579E6D3EC4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08.07.26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07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3CE8-D396-673A-8BF9-8025B130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67E76-0AE1-8BD6-C56A-BC82EB138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AE11D-7134-66DE-08A6-EF3780DB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Expression Pedal = Potentiometer that can be controlled by a </a:t>
            </a:r>
            <a:r>
              <a:rPr lang="en-US" dirty="0" err="1"/>
              <a:t>footpedal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mainly in live audio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Complexity comes from the fact that no standard pinout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Device to detect and support all possible pinouts and resistance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 The device needs to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detect the specific configuration of an attached pedal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>
                <a:sym typeface="Wingdings" pitchFamily="2" charset="2"/>
              </a:rPr>
              <a:t>continously</a:t>
            </a:r>
            <a:r>
              <a:rPr lang="en-US" dirty="0">
                <a:sym typeface="Wingdings" pitchFamily="2" charset="2"/>
              </a:rPr>
              <a:t> read its position and send that to the host PC via the MIDI-USB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EEB4C-4766-ADF1-7554-29E8420AF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13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996EC-2983-EC88-CA7B-2181109A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BD5F8-9A52-BF17-4FEF-158C2643B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AFDD5-65ED-519D-A28D-7ACE483D7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Model: Two resistors A and 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 we detect which tap is connected to which part of this network?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More general form: three-terminal resistive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 Introduction of a third resistor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8588-C0D5-4D9D-D559-88896AA8D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69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2924-AD1D-9CB8-B30E-C00936B5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0A501-40CE-50AC-E364-EF4B01F93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BC531-801D-BE98-6153-796E2E901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If this general model of 3 resistors is a potentiometer, one of the resistors must be 0 Ohm, while the others form the voltage divider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By measuring which resistor is 0 Ohm, we know which pin is the wiper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2FA8C-ED74-855F-017B-F1A0591B3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63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443C-B04B-68F6-8216-6AFF9ED3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0ACD5-48D9-4E15-6D27-8314F04A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08372-D3F1-5CB2-1F4B-048E3025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can be pulled High, Low, or left floating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is connected to a separate ADC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Live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1D08-D27E-04A0-9D20-38C79674E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85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40FB-B468-54DA-A058-7778D49E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29511-745A-231C-AC70-4C7114C43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4DFB6-EEE6-FB1D-09EB-C9E287B2E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Hardware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Parts ordered for the prototype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Started working on it (but not presentable yet)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Routing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Firmware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Simulator will not be refined further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Start implementation on the Raspberry Pi Pico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NEXT PAGE: END!!!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49E00-2AAA-8AC3-0F67-D2E8E6913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519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09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EBEB-5E8D-9038-F541-CF34344B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3598C-81C8-7580-25CA-758063E56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65542-0881-96E3-1F14-9431A6EBF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voltage and SNR on the supply rails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signal integrity of the SPI bus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Self-tests: SPI device id inquiry, tristate buffer pullup/pulldown using ADC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Detection algorithm for known networks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Apply a resistor configuration and validate the detected topology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Also apply edge cases where R=0 Ohm (short or open circuit)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Sweep a precision resistor and compare the measured resistor ratio to the actual one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end-to-end latency from input resistance change to the value arriving at the USB host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F6177-7FB2-7930-C07B-FD5A6E68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47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4537-50CB-B643-2F73-B29486CA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DBDCD-AAEB-4921-C19C-D05AE79D9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2D3F3-034D-E907-917E-8BD7C568B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Similar principle: “Transistor tester”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52F24-5186-3B69-CE58-A886D5AAD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242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Expression (sometime Volume) Pedals are used during live performances to alter the sound of an audio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 image: guitarist, can apply audio filter/modify frequence with both hands free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Compared to a switch pedal: Set a specific position and drive continuous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Goal of this project: Create a hardware adapter to connect these pedals to a 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7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ADC0-5ECF-C9B9-FFA0-AEF0F94C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2E8C2-D618-F75C-9C39-FC1C48FEF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F0A46-4A15-B8EA-3F27-AF0BF0A7F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Pullup/down: </a:t>
            </a:r>
            <a:r>
              <a:rPr lang="de-DE" dirty="0" err="1">
                <a:sym typeface="Wingdings" pitchFamily="2" charset="2"/>
              </a:rPr>
              <a:t>Tristate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Buffer IC (SN74)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Two control signals per output  74HC shift register (Microcontroller GPIO expansion)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50A24-993D-05FD-CB75-58F3EB65E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790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C19B-67CE-04F0-0D6A-1D489353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2922C-3183-C008-A5E5-70FE89217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43B7D-EEB4-B69A-80F2-D0BCCE5C0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ADC: AD7124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Low speed (&lt; 1kHz)  Sigma Delta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Works with 3.3V supply (Microcontroller logic level)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Interface via SPI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Minimal external circuitry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CEE6-41A2-A669-2CBC-C8DAF5DD3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363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EE9F-F359-1EC3-6DAC-A78CDF66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52AC-CB11-4C0F-414B-0225415C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4AF30-7DA2-0B4B-9A2F-0EE39DF09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uC</a:t>
            </a:r>
            <a:r>
              <a:rPr lang="en-US" dirty="0">
                <a:sym typeface="Wingdings" pitchFamily="2" charset="2"/>
              </a:rPr>
              <a:t>: Raspberry Pi Pico 2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Bare RP2040 chip  USB, crystal, flash, etc. would all need to be added manually. Pico 2 Module is the official (well tested hardware)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STM32 (F4/G4/L4)  Faster CPU, but more external hardware required + proprietary USB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7E4B-5612-025E-AB7E-12C1068B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136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2FD4-B63E-A08C-3694-9B828F9B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4191E-357F-1696-261C-F8E74880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EF304-690B-FE69-FDC4-B29C4860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Digital supplies (5V and 3.3V)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3.3V can be toggled between this LDO and the Pico Module’s onboard voltage regulator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Analog supply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GND connected via single star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89722-4BF1-FDAB-5394-9F1AFBD5F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00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372A-F3BF-6DAF-C076-5A0F997A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D1147-860E-91FC-EA92-1F0915F6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D8CE9-E10C-2A2A-A062-26FF51F4C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Reverse polarity protection circuit via an ideal diode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TVS protection diode for voltage spikes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42062-5560-BDD7-0577-33B884DD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81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7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92964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Actuator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 | Adapter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 Pedals | Milestone Meeting 2 | </a:t>
            </a:r>
            <a:fld id="{8AB8AE3C-4F02-BE49-87A2-4A6516160ED6}" type="datetime4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8. Juli 2026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monbenson.github.io/topology-sim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i.com/lit/ds/symlink/sn74lvc126a.pdf" TargetMode="External"/><Relationship Id="rId3" Type="http://schemas.openxmlformats.org/officeDocument/2006/relationships/hyperlink" Target="https://www.mikrocontroller.net/articles/AVR-Transistortester" TargetMode="External"/><Relationship Id="rId7" Type="http://schemas.openxmlformats.org/officeDocument/2006/relationships/hyperlink" Target="https://pip-assets.raspberrypi.com/categories/1005-raspberry-pi-pico-2/documents/RP-008299-DS-2-pico-2-datasheet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i.com/product/ADS8688" TargetMode="External"/><Relationship Id="rId5" Type="http://schemas.openxmlformats.org/officeDocument/2006/relationships/hyperlink" Target="https://www.analog.com/media/en/technical-documentation/data-sheets/ad7124-8.pdf" TargetMode="External"/><Relationship Id="rId4" Type="http://schemas.openxmlformats.org/officeDocument/2006/relationships/hyperlink" Target="https://missionengineering.com/understanding-expression-pedals/" TargetMode="External"/><Relationship Id="rId9" Type="http://schemas.openxmlformats.org/officeDocument/2006/relationships/hyperlink" Target="https://www.analog.com/media/en/technical-documentation/data-sheets/adp7142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8F709F46-8902-044F-BC8E-D41E7551AAC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14807" b="14807"/>
          <a:stretch/>
        </p:blipFill>
        <p:spPr>
          <a:xfrm>
            <a:off x="-6479" y="1260572"/>
            <a:ext cx="8885359" cy="3273604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Adapter </a:t>
            </a:r>
            <a:r>
              <a:rPr lang="de-DE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 Pedals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11202584" cy="2834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</a:t>
            </a:r>
            <a:r>
              <a:rPr lang="de-DE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Actuator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 | </a:t>
            </a: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Meeting 2 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0F6880AF-F197-8546-A084-1C3550DC2BAA}" type="datetime4">
              <a:rPr lang="de-DE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8. Juli 2026</a:t>
            </a:fld>
            <a:endParaRPr lang="de-DE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70C4A-9328-5446-1268-117BA8A463ED}"/>
              </a:ext>
            </a:extLst>
          </p:cNvPr>
          <p:cNvSpPr txBox="1"/>
          <p:nvPr/>
        </p:nvSpPr>
        <p:spPr>
          <a:xfrm>
            <a:off x="550801" y="4523554"/>
            <a:ext cx="53127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</a:t>
            </a:r>
            <a:r>
              <a:rPr lang="en-US" sz="1200" dirty="0" err="1">
                <a:solidFill>
                  <a:schemeClr val="bg1"/>
                </a:solidFill>
              </a:rPr>
              <a:t>media.sweetwater.com</a:t>
            </a:r>
            <a:r>
              <a:rPr lang="en-US" sz="1200" dirty="0">
                <a:solidFill>
                  <a:schemeClr val="bg1"/>
                </a:solidFill>
              </a:rPr>
              <a:t>/m/</a:t>
            </a:r>
            <a:r>
              <a:rPr lang="en-US" sz="1200" dirty="0" err="1">
                <a:solidFill>
                  <a:schemeClr val="bg1"/>
                </a:solidFill>
              </a:rPr>
              <a:t>insync</a:t>
            </a:r>
            <a:r>
              <a:rPr lang="en-US" sz="1200" dirty="0">
                <a:solidFill>
                  <a:schemeClr val="bg1"/>
                </a:solidFill>
              </a:rPr>
              <a:t>/2018/08/</a:t>
            </a:r>
            <a:r>
              <a:rPr lang="en-US" sz="1200" dirty="0" err="1">
                <a:solidFill>
                  <a:schemeClr val="bg1"/>
                </a:solidFill>
              </a:rPr>
              <a:t>keyboardexpression.jpg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4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2CD1-98AD-6F09-2CEC-F20FF092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291FB-9F4E-E242-CE99-6AFC1BF39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D145CF72-E8B8-0753-029D-640CE2D2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5867" y="1472700"/>
            <a:ext cx="3460276" cy="34602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3B6D25-FADF-8C17-C34D-01008E9BAF09}"/>
              </a:ext>
            </a:extLst>
          </p:cNvPr>
          <p:cNvSpPr txBox="1"/>
          <p:nvPr/>
        </p:nvSpPr>
        <p:spPr>
          <a:xfrm>
            <a:off x="555867" y="5291695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FF4D2-6450-05FF-0D82-4BF8792CE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0471" y="1692713"/>
            <a:ext cx="6403990" cy="283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9B18-6DD8-4F81-7D9C-4E5CD3D8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94683-346A-37B7-3BE8-B88B59216A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81A51E5-1E4F-550F-39A0-A45575F2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38" y="1477156"/>
            <a:ext cx="3793724" cy="39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2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FF46-1122-DD88-35A5-A2406146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C4D61-DFBB-8450-B268-C9C5625AB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275C2-3FC7-5BC8-7BD3-027FF5D21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38" y="1477155"/>
            <a:ext cx="3793724" cy="39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5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3012-3610-4540-E7DA-D2F84B59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F62F5-B664-CED3-FE7F-FAD0150F7B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18" name="Picture 17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8C5B2813-7E4B-911E-E8F0-0DF6EFF8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16"/>
          <a:stretch>
            <a:fillRect/>
          </a:stretch>
        </p:blipFill>
        <p:spPr>
          <a:xfrm>
            <a:off x="6260123" y="638989"/>
            <a:ext cx="4096651" cy="51502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138688-ACD6-A9EC-4AA2-BA77A21142A2}"/>
              </a:ext>
            </a:extLst>
          </p:cNvPr>
          <p:cNvSpPr txBox="1"/>
          <p:nvPr/>
        </p:nvSpPr>
        <p:spPr>
          <a:xfrm>
            <a:off x="9115864" y="638989"/>
            <a:ext cx="11254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+</a:t>
            </a:r>
            <a:r>
              <a:rPr lang="de-DE" sz="2800" dirty="0">
                <a:solidFill>
                  <a:schemeClr val="bg2">
                    <a:lumMod val="10000"/>
                  </a:schemeClr>
                </a:solidFill>
              </a:rPr>
              <a:t>3.3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D5FC2-4116-1C94-C0CD-F53CBF1B45CA}"/>
              </a:ext>
            </a:extLst>
          </p:cNvPr>
          <p:cNvSpPr txBox="1"/>
          <p:nvPr/>
        </p:nvSpPr>
        <p:spPr>
          <a:xfrm>
            <a:off x="9115864" y="5266005"/>
            <a:ext cx="11254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GND</a:t>
            </a:r>
          </a:p>
        </p:txBody>
      </p:sp>
      <p:pic>
        <p:nvPicPr>
          <p:cNvPr id="4" name="Picture 3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E98700CC-887E-0697-C52C-2874EE6F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259"/>
          <a:stretch>
            <a:fillRect/>
          </a:stretch>
        </p:blipFill>
        <p:spPr>
          <a:xfrm>
            <a:off x="5689747" y="638989"/>
            <a:ext cx="709348" cy="5150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F020C3-EBC6-2172-DB34-B04E9D82184A}"/>
              </a:ext>
            </a:extLst>
          </p:cNvPr>
          <p:cNvSpPr txBox="1"/>
          <p:nvPr/>
        </p:nvSpPr>
        <p:spPr>
          <a:xfrm>
            <a:off x="5321859" y="2293034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648B9-08C1-D9F4-71CB-78ED1AC0A028}"/>
              </a:ext>
            </a:extLst>
          </p:cNvPr>
          <p:cNvSpPr txBox="1"/>
          <p:nvPr/>
        </p:nvSpPr>
        <p:spPr>
          <a:xfrm>
            <a:off x="5321859" y="3057577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3AAD3-528E-03C5-CFE3-DEC603C4D885}"/>
              </a:ext>
            </a:extLst>
          </p:cNvPr>
          <p:cNvSpPr txBox="1"/>
          <p:nvPr/>
        </p:nvSpPr>
        <p:spPr>
          <a:xfrm>
            <a:off x="5321859" y="3822120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8CB2C-7BE6-BD1D-D84F-A9A12919F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673" y="1804045"/>
            <a:ext cx="2791012" cy="2871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5BEE4-036D-FD0B-86AE-E41ED60CD03A}"/>
              </a:ext>
            </a:extLst>
          </p:cNvPr>
          <p:cNvSpPr txBox="1"/>
          <p:nvPr/>
        </p:nvSpPr>
        <p:spPr>
          <a:xfrm>
            <a:off x="489491" y="5366019"/>
            <a:ext cx="5442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Live Demo: </a:t>
            </a:r>
            <a:r>
              <a:rPr lang="en-US" dirty="0">
                <a:hlinkClick r:id="rId5"/>
              </a:rPr>
              <a:t>https://amonbenson.github.io/topology-sim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8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C7B9-373F-DEDC-5C13-3D95C3E2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EDEFEC-2C57-53B6-B2D8-27ADF48427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519311"/>
            <a:ext cx="11055046" cy="4051495"/>
          </a:xfrm>
        </p:spPr>
        <p:txBody>
          <a:bodyPr/>
          <a:lstStyle/>
          <a:p>
            <a:r>
              <a:rPr lang="en-US" dirty="0"/>
              <a:t>Hardware</a:t>
            </a:r>
          </a:p>
          <a:p>
            <a:pPr lvl="1"/>
            <a:r>
              <a:rPr lang="en-US" strike="sngStrike" dirty="0"/>
              <a:t>schematic design</a:t>
            </a:r>
          </a:p>
          <a:p>
            <a:pPr lvl="1"/>
            <a:r>
              <a:rPr lang="en-US" dirty="0"/>
              <a:t>build a working prototype (single channel)</a:t>
            </a:r>
          </a:p>
          <a:p>
            <a:pPr lvl="1"/>
            <a:r>
              <a:rPr lang="en-US" dirty="0"/>
              <a:t>PCB layout and routing</a:t>
            </a:r>
          </a:p>
          <a:p>
            <a:pPr lvl="1"/>
            <a:r>
              <a:rPr lang="en-US" dirty="0"/>
              <a:t>manufacturing</a:t>
            </a:r>
          </a:p>
          <a:p>
            <a:r>
              <a:rPr lang="en-US" dirty="0"/>
              <a:t>Firmware</a:t>
            </a:r>
          </a:p>
          <a:p>
            <a:pPr lvl="1"/>
            <a:r>
              <a:rPr lang="en-US" strike="sngStrike" dirty="0"/>
              <a:t>simulation of ADC measurements for (functional) testing</a:t>
            </a:r>
          </a:p>
          <a:p>
            <a:pPr lvl="1"/>
            <a:r>
              <a:rPr lang="en-US" strike="sngStrike" dirty="0"/>
              <a:t>implementation and refinement of the detection algorithm</a:t>
            </a:r>
          </a:p>
          <a:p>
            <a:pPr lvl="1"/>
            <a:r>
              <a:rPr lang="en-US" dirty="0"/>
              <a:t>implementation of the detection algorithm using the microcontroller toolchain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4DE85-E3F6-F30B-A8E2-B0BF48E8E1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/>
          <a:lstStyle/>
          <a:p>
            <a:r>
              <a:rPr lang="en-US" dirty="0"/>
              <a:t>Outlook</a:t>
            </a:r>
          </a:p>
        </p:txBody>
      </p:sp>
    </p:spTree>
    <p:extLst>
      <p:ext uri="{BB962C8B-B14F-4D97-AF65-F5344CB8AC3E}">
        <p14:creationId xmlns:p14="http://schemas.microsoft.com/office/powerpoint/2010/main" val="195797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C1A7-EB63-B3EF-7251-B15A6D82B1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00" y="1252025"/>
            <a:ext cx="11069114" cy="4670473"/>
          </a:xfrm>
        </p:spPr>
        <p:txBody>
          <a:bodyPr/>
          <a:lstStyle/>
          <a:p>
            <a:r>
              <a:rPr lang="en-US" sz="1200" dirty="0"/>
              <a:t>[1] M. </a:t>
            </a:r>
            <a:r>
              <a:rPr lang="en-US" sz="1200" dirty="0" err="1"/>
              <a:t>Frejek</a:t>
            </a:r>
            <a:r>
              <a:rPr lang="en-US" sz="1200" dirty="0"/>
              <a:t>, "AVR-</a:t>
            </a:r>
            <a:r>
              <a:rPr lang="en-US" sz="1200" dirty="0" err="1"/>
              <a:t>Transistortester</a:t>
            </a:r>
            <a:r>
              <a:rPr lang="en-US" sz="1200" dirty="0"/>
              <a:t>," Embedded Projects Journal, no. 11, 2011. Online documentation: K.-H. </a:t>
            </a:r>
            <a:r>
              <a:rPr lang="en-US" sz="1200" dirty="0" err="1"/>
              <a:t>Kübbeler</a:t>
            </a:r>
            <a:r>
              <a:rPr lang="en-US" sz="1200" dirty="0"/>
              <a:t>. [Online]. Available: </a:t>
            </a:r>
            <a:r>
              <a:rPr lang="en-US" sz="1200" dirty="0">
                <a:hlinkClick r:id="rId3"/>
              </a:rPr>
              <a:t>https://www.mikrocontroller.net/articles/AVR-Transistortester</a:t>
            </a:r>
            <a:endParaRPr lang="en-US" sz="1200" dirty="0"/>
          </a:p>
          <a:p>
            <a:r>
              <a:rPr lang="en-US" sz="1200" dirty="0"/>
              <a:t>[2] Mission Engineering, "Understanding expression pedals." [Online]. Available: </a:t>
            </a:r>
            <a:r>
              <a:rPr lang="en-US" sz="1200" dirty="0">
                <a:hlinkClick r:id="rId4"/>
              </a:rPr>
              <a:t>https://missionengineering.com/understanding-expression-pedals/</a:t>
            </a:r>
            <a:endParaRPr lang="en-US" sz="1200" dirty="0"/>
          </a:p>
          <a:p>
            <a:r>
              <a:rPr lang="en-US" sz="1200" dirty="0"/>
              <a:t>[3] Analog Devices, AD7124-8: 8-Channel, Low Noise, Low Power, 24-Bit, Sigma-Delta ADC with PGA and Reference, Data Sheet, Rev. F, 2023. [Online]. Available: </a:t>
            </a:r>
            <a:r>
              <a:rPr lang="en-US" sz="1200" dirty="0">
                <a:hlinkClick r:id="rId5"/>
              </a:rPr>
              <a:t>https://www.analog.com/media/en/technical-documentation/data-sheets/ad7124-8.pdf</a:t>
            </a:r>
            <a:endParaRPr lang="en-US" sz="1200" dirty="0"/>
          </a:p>
          <a:p>
            <a:r>
              <a:rPr lang="en-US" sz="1200" dirty="0"/>
              <a:t>[4] Texas Instruments, ADS8688: 16-Bit, 8-Channel, Integrated Analog Front-End SAR ADC, Data Sheet. [Online]. Available: </a:t>
            </a:r>
            <a:r>
              <a:rPr lang="en-US" sz="1200" dirty="0">
                <a:hlinkClick r:id="rId6"/>
              </a:rPr>
              <a:t>https://www.ti.com/product/ADS8688</a:t>
            </a:r>
            <a:endParaRPr lang="en-US" sz="1200" dirty="0"/>
          </a:p>
          <a:p>
            <a:r>
              <a:rPr lang="en-US" sz="1200" dirty="0"/>
              <a:t>[5] Raspberry Pi Ltd., Raspberry Pi Pico 2 Datasheet (RP2350), 2024. [Online]. Available: </a:t>
            </a:r>
            <a:r>
              <a:rPr lang="en-US" sz="1200" dirty="0">
                <a:hlinkClick r:id="rId7"/>
              </a:rPr>
              <a:t>https://pip-assets.raspberrypi.com/categories/1005-raspberry-pi-pico-2/documents/RP-008299-DS-2-pico-2-datasheet.pdf</a:t>
            </a:r>
            <a:endParaRPr lang="en-US" sz="1200" dirty="0"/>
          </a:p>
          <a:p>
            <a:r>
              <a:rPr lang="en-US" sz="1200" dirty="0"/>
              <a:t>[6] Texas Instruments, SN74LVC126A: Quadruple Bus Buffer Gate With 3-State Outputs, Data Sheet. [Online]. Available: </a:t>
            </a:r>
            <a:r>
              <a:rPr lang="en-US" sz="1200" dirty="0">
                <a:hlinkClick r:id="rId8"/>
              </a:rPr>
              <a:t>https://www.ti.com/lit/ds/symlink/sn74lvc126a.pdf</a:t>
            </a:r>
            <a:endParaRPr lang="en-US" sz="1200" dirty="0"/>
          </a:p>
          <a:p>
            <a:r>
              <a:rPr lang="en-US" sz="1200" dirty="0"/>
              <a:t>[7] Analog Devices, ADP7142: 40 V, 200 mA, Low Noise, CMOS LDO Linear Regulator, Data Sheet, Rev. K. [Online]. Available: </a:t>
            </a:r>
            <a:r>
              <a:rPr lang="en-US" sz="1200" dirty="0">
                <a:hlinkClick r:id="rId9"/>
              </a:rPr>
              <a:t>https://www.analog.com/media/en/technical-documentation/data-sheets/adp7142.pdf</a:t>
            </a:r>
            <a:endParaRPr lang="en-US" sz="1200" dirty="0"/>
          </a:p>
          <a:p>
            <a:r>
              <a:rPr lang="en-US" sz="1200" dirty="0"/>
              <a:t>[8] P. Horowitz and W. Hill, The Art of Electronics, 3rd ed. Cambridge, U.K.: Cambridge University Press, 2015.</a:t>
            </a:r>
          </a:p>
          <a:p>
            <a:r>
              <a:rPr lang="en-US" sz="1200" dirty="0"/>
              <a:t>[9] W. Kester, J. Bryant, and M. Byrne, "MT-031 Tutorial: Grounding Data Converters and Solving the Mystery of 'AGND' and 'DGND'," Analog Devices, Rev. A, 2008.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6E303-CF30-46B1-A2DC-1E1741D3B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60873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B851-AA87-0D1D-13BE-BD045DE6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D47BC0-EAF6-A338-B8FB-6A2E82651F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533378"/>
            <a:ext cx="11055046" cy="4248444"/>
          </a:xfrm>
        </p:spPr>
        <p:txBody>
          <a:bodyPr/>
          <a:lstStyle/>
          <a:p>
            <a:r>
              <a:rPr lang="en-US" dirty="0"/>
              <a:t>power supply quality</a:t>
            </a:r>
          </a:p>
          <a:p>
            <a:r>
              <a:rPr lang="en-US" dirty="0"/>
              <a:t>SPI signal quality</a:t>
            </a:r>
          </a:p>
          <a:p>
            <a:r>
              <a:rPr lang="en-US" dirty="0"/>
              <a:t>functional self-test</a:t>
            </a:r>
          </a:p>
          <a:p>
            <a:pPr lvl="1"/>
            <a:r>
              <a:rPr lang="en-US" dirty="0"/>
              <a:t>SPI device inquiry (ADC)</a:t>
            </a:r>
          </a:p>
          <a:p>
            <a:pPr lvl="1"/>
            <a:r>
              <a:rPr lang="en-US" dirty="0"/>
              <a:t>tristate buffer</a:t>
            </a:r>
          </a:p>
          <a:p>
            <a:r>
              <a:rPr lang="en-US" dirty="0"/>
              <a:t>detection algorithm for known static networks</a:t>
            </a:r>
          </a:p>
          <a:p>
            <a:r>
              <a:rPr lang="en-US" dirty="0"/>
              <a:t>accuracy and linearity</a:t>
            </a:r>
          </a:p>
          <a:p>
            <a:r>
              <a:rPr lang="en-US" dirty="0"/>
              <a:t>end-to-end latency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CE815-FA7F-7F0F-B188-B8793C6B59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/>
          <a:lstStyle/>
          <a:p>
            <a:r>
              <a:rPr lang="en-US" dirty="0"/>
              <a:t>Testing and 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236832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8FE0-2BFF-6E55-6979-AF38A7F1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CE948-7929-FBC3-382C-BD08E20FE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“AVR-</a:t>
            </a:r>
            <a:r>
              <a:rPr lang="en-US" dirty="0" err="1"/>
              <a:t>Transistortester</a:t>
            </a:r>
            <a:r>
              <a:rPr lang="en-US" dirty="0"/>
              <a:t>”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2ADC67-020A-12C0-E925-095A6105F7D4}"/>
              </a:ext>
            </a:extLst>
          </p:cNvPr>
          <p:cNvGrpSpPr/>
          <p:nvPr/>
        </p:nvGrpSpPr>
        <p:grpSpPr>
          <a:xfrm>
            <a:off x="3021132" y="1611190"/>
            <a:ext cx="6149736" cy="4009054"/>
            <a:chOff x="66917" y="1611190"/>
            <a:chExt cx="6149736" cy="4009054"/>
          </a:xfrm>
        </p:grpSpPr>
        <p:pic>
          <p:nvPicPr>
            <p:cNvPr id="10" name="Picture 9" descr="A small electronic device with a blue screen&#10;&#10;AI-generated content may be incorrect.">
              <a:extLst>
                <a:ext uri="{FF2B5EF4-FFF2-40B4-BE49-F238E27FC236}">
                  <a16:creationId xmlns:a16="http://schemas.microsoft.com/office/drawing/2014/main" id="{DB5A69CD-03A1-C9A8-DEEA-530B40D56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94" r="21689"/>
            <a:stretch>
              <a:fillRect/>
            </a:stretch>
          </p:blipFill>
          <p:spPr>
            <a:xfrm>
              <a:off x="1589649" y="1611190"/>
              <a:ext cx="2875370" cy="36356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C31502-A85D-50B5-09A6-68152AC05F86}"/>
                </a:ext>
              </a:extLst>
            </p:cNvPr>
            <p:cNvSpPr txBox="1"/>
            <p:nvPr/>
          </p:nvSpPr>
          <p:spPr>
            <a:xfrm>
              <a:off x="66917" y="5312467"/>
              <a:ext cx="61497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https://</a:t>
              </a:r>
              <a:r>
                <a:rPr lang="en-US" sz="1400" dirty="0" err="1"/>
                <a:t>content.instructables.com</a:t>
              </a:r>
              <a:r>
                <a:rPr lang="en-US" sz="1400" dirty="0"/>
                <a:t>/F4V/9O1Y/IFCDEPNY/F4V9O1YIFCDEPNY.jpg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9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DB007-5529-5F2D-2A56-E82EF0F9D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11" name="Picture 10" descr="A person standing on a guitar pedal&#10;&#10;AI-generated content may be incorrect.">
            <a:extLst>
              <a:ext uri="{FF2B5EF4-FFF2-40B4-BE49-F238E27FC236}">
                <a16:creationId xmlns:a16="http://schemas.microsoft.com/office/drawing/2014/main" id="{087127A3-3C75-0250-70C5-897E7FDC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" y="1371599"/>
            <a:ext cx="5878593" cy="3927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AC947-9704-3FB8-154B-EB10BD9515FB}"/>
              </a:ext>
            </a:extLst>
          </p:cNvPr>
          <p:cNvSpPr txBox="1"/>
          <p:nvPr/>
        </p:nvSpPr>
        <p:spPr>
          <a:xfrm>
            <a:off x="555867" y="5344696"/>
            <a:ext cx="58785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media.sweetwater.com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/m/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insync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/2018/08/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keyboardexpression.jpg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6CD163AF-3B39-2DF0-5290-AC100C277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468" y="1208221"/>
            <a:ext cx="4321141" cy="43211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1304CB-8E9B-B61F-4A63-92D88AE9A63E}"/>
              </a:ext>
            </a:extLst>
          </p:cNvPr>
          <p:cNvSpPr txBox="1"/>
          <p:nvPr/>
        </p:nvSpPr>
        <p:spPr>
          <a:xfrm>
            <a:off x="5607965" y="5344696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A2A1CA-ADD7-65BD-4BFA-4D1AF02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B2D678B7-DFF4-FB51-68B4-13FB2B76B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92" b="96707" l="773" r="99455">
                        <a14:foregroundMark x1="1773" y1="5589" x2="69818" y2="65070"/>
                        <a14:foregroundMark x1="69818" y1="65070" x2="69864" y2="65170"/>
                        <a14:foregroundMark x1="5136" y1="88124" x2="11818" y2="90419"/>
                        <a14:foregroundMark x1="11818" y1="90419" x2="15591" y2="84531"/>
                        <a14:foregroundMark x1="15591" y1="84531" x2="15545" y2="71557"/>
                        <a14:foregroundMark x1="15545" y1="71557" x2="9227" y2="58683"/>
                        <a14:foregroundMark x1="9227" y1="58683" x2="5091" y2="63573"/>
                        <a14:foregroundMark x1="5091" y1="63573" x2="4409" y2="77146"/>
                        <a14:foregroundMark x1="4409" y1="77146" x2="9682" y2="77545"/>
                        <a14:foregroundMark x1="9682" y1="77545" x2="9864" y2="62475"/>
                        <a14:foregroundMark x1="9864" y1="62475" x2="5364" y2="55389"/>
                        <a14:foregroundMark x1="5364" y1="55389" x2="3364" y2="68463"/>
                        <a14:foregroundMark x1="3364" y1="68463" x2="4727" y2="78144"/>
                        <a14:foregroundMark x1="4727" y1="78144" x2="7545" y2="60379"/>
                        <a14:foregroundMark x1="7545" y1="60379" x2="5045" y2="72754"/>
                        <a14:foregroundMark x1="5045" y1="72754" x2="12045" y2="80140"/>
                        <a14:foregroundMark x1="12045" y1="80140" x2="16318" y2="72156"/>
                        <a14:foregroundMark x1="16318" y1="72156" x2="13818" y2="83932"/>
                        <a14:foregroundMark x1="13818" y1="83932" x2="17773" y2="71756"/>
                        <a14:foregroundMark x1="17773" y1="71756" x2="22091" y2="75449"/>
                        <a14:foregroundMark x1="4500" y1="65768" x2="2273" y2="86427"/>
                        <a14:foregroundMark x1="2273" y1="86427" x2="2455" y2="86427"/>
                        <a14:foregroundMark x1="13955" y1="90719" x2="8500" y2="96707"/>
                        <a14:foregroundMark x1="8500" y1="96707" x2="14500" y2="95908"/>
                        <a14:foregroundMark x1="14500" y1="95908" x2="10273" y2="91617"/>
                        <a14:foregroundMark x1="10273" y1="91617" x2="18682" y2="92016"/>
                        <a14:foregroundMark x1="18682" y1="92016" x2="22682" y2="84032"/>
                        <a14:foregroundMark x1="22682" y1="84032" x2="16864" y2="83134"/>
                        <a14:foregroundMark x1="16864" y1="83134" x2="11909" y2="92216"/>
                        <a14:foregroundMark x1="11909" y1="92216" x2="19500" y2="84431"/>
                        <a14:foregroundMark x1="19500" y1="84431" x2="19364" y2="81337"/>
                        <a14:foregroundMark x1="46864" y1="94411" x2="40455" y2="92415"/>
                        <a14:foregroundMark x1="40455" y1="92415" x2="39091" y2="80539"/>
                        <a14:foregroundMark x1="39091" y1="80539" x2="41591" y2="89521"/>
                        <a14:foregroundMark x1="41591" y1="89521" x2="38409" y2="62874"/>
                        <a14:foregroundMark x1="38409" y1="62874" x2="40182" y2="87625"/>
                        <a14:foregroundMark x1="40182" y1="87625" x2="36409" y2="64770"/>
                        <a14:foregroundMark x1="36409" y1="64770" x2="39364" y2="88423"/>
                        <a14:foregroundMark x1="39364" y1="88423" x2="39364" y2="88423"/>
                        <a14:foregroundMark x1="28773" y1="62874" x2="24636" y2="72954"/>
                        <a14:foregroundMark x1="24636" y1="72954" x2="28545" y2="58283"/>
                        <a14:foregroundMark x1="28545" y1="58283" x2="26455" y2="48303"/>
                        <a14:foregroundMark x1="26455" y1="48303" x2="18773" y2="71357"/>
                        <a14:foregroundMark x1="18773" y1="71357" x2="16455" y2="96707"/>
                        <a14:foregroundMark x1="16455" y1="96707" x2="21091" y2="81737"/>
                        <a14:foregroundMark x1="21091" y1="81737" x2="21318" y2="70160"/>
                        <a14:foregroundMark x1="21318" y1="70160" x2="18864" y2="88922"/>
                        <a14:foregroundMark x1="18864" y1="88922" x2="23773" y2="69361"/>
                        <a14:foregroundMark x1="23773" y1="69361" x2="29864" y2="58383"/>
                        <a14:foregroundMark x1="29864" y1="58383" x2="26864" y2="80838"/>
                        <a14:foregroundMark x1="14818" y1="56687" x2="14545" y2="28842"/>
                        <a14:foregroundMark x1="14545" y1="28842" x2="818" y2="73653"/>
                        <a14:foregroundMark x1="818" y1="73653" x2="8727" y2="31038"/>
                        <a14:foregroundMark x1="8727" y1="31038" x2="3455" y2="53992"/>
                        <a14:foregroundMark x1="3455" y1="53992" x2="7818" y2="28244"/>
                        <a14:foregroundMark x1="7818" y1="28244" x2="3636" y2="34830"/>
                        <a14:foregroundMark x1="3636" y1="34830" x2="15955" y2="18463"/>
                        <a14:foregroundMark x1="15955" y1="18463" x2="12045" y2="52994"/>
                        <a14:foregroundMark x1="12045" y1="52994" x2="18682" y2="42914"/>
                        <a14:foregroundMark x1="18682" y1="42914" x2="19091" y2="52695"/>
                        <a14:foregroundMark x1="17682" y1="34531" x2="16045" y2="22156"/>
                        <a14:foregroundMark x1="16045" y1="22156" x2="18000" y2="11776"/>
                        <a14:foregroundMark x1="18000" y1="11776" x2="42455" y2="8483"/>
                        <a14:foregroundMark x1="42455" y1="8483" x2="59409" y2="12176"/>
                        <a14:foregroundMark x1="59409" y1="12176" x2="65818" y2="9581"/>
                        <a14:foregroundMark x1="65818" y1="9581" x2="57591" y2="898"/>
                        <a14:foregroundMark x1="57591" y1="898" x2="37182" y2="15569"/>
                        <a14:foregroundMark x1="37182" y1="15569" x2="34591" y2="31437"/>
                        <a14:foregroundMark x1="34591" y1="31437" x2="39136" y2="33832"/>
                        <a14:foregroundMark x1="39136" y1="33832" x2="44045" y2="23553"/>
                        <a14:foregroundMark x1="44045" y1="23553" x2="43318" y2="2295"/>
                        <a14:foregroundMark x1="43318" y1="2295" x2="35909" y2="2894"/>
                        <a14:foregroundMark x1="35909" y1="2894" x2="28500" y2="11277"/>
                        <a14:foregroundMark x1="28500" y1="11277" x2="33091" y2="17465"/>
                        <a14:foregroundMark x1="33091" y1="17465" x2="18864" y2="1697"/>
                        <a14:foregroundMark x1="18864" y1="1697" x2="10273" y2="2794"/>
                        <a14:foregroundMark x1="10273" y1="2794" x2="29227" y2="6088"/>
                        <a14:foregroundMark x1="29227" y1="6088" x2="56091" y2="4192"/>
                        <a14:foregroundMark x1="56091" y1="4192" x2="70000" y2="5689"/>
                        <a14:foregroundMark x1="70000" y1="5689" x2="74227" y2="11876"/>
                        <a14:foregroundMark x1="74227" y1="11876" x2="78182" y2="23054"/>
                        <a14:foregroundMark x1="78182" y1="23054" x2="78091" y2="8683"/>
                        <a14:foregroundMark x1="78091" y1="8683" x2="65909" y2="11776"/>
                        <a14:foregroundMark x1="65909" y1="11776" x2="61500" y2="32735"/>
                        <a14:foregroundMark x1="61500" y1="32735" x2="67182" y2="41916"/>
                        <a14:foregroundMark x1="67182" y1="41916" x2="74545" y2="33832"/>
                        <a14:foregroundMark x1="74545" y1="33832" x2="75455" y2="30838"/>
                        <a14:foregroundMark x1="93136" y1="44810" x2="87909" y2="40818"/>
                        <a14:foregroundMark x1="87909" y1="40818" x2="82273" y2="54391"/>
                        <a14:foregroundMark x1="82273" y1="54391" x2="80409" y2="69561"/>
                        <a14:foregroundMark x1="80409" y1="69561" x2="88000" y2="81836"/>
                        <a14:foregroundMark x1="88000" y1="81836" x2="96727" y2="75349"/>
                        <a14:foregroundMark x1="96727" y1="75349" x2="98409" y2="60679"/>
                        <a14:foregroundMark x1="98409" y1="60679" x2="91136" y2="35729"/>
                        <a14:foregroundMark x1="91136" y1="35729" x2="84909" y2="62475"/>
                        <a14:foregroundMark x1="84909" y1="62475" x2="87136" y2="81238"/>
                        <a14:foregroundMark x1="87136" y1="81238" x2="93500" y2="75150"/>
                        <a14:foregroundMark x1="93500" y1="75150" x2="95455" y2="61577"/>
                        <a14:foregroundMark x1="95455" y1="61577" x2="94136" y2="42415"/>
                        <a14:foregroundMark x1="94136" y1="42415" x2="89591" y2="34631"/>
                        <a14:foregroundMark x1="89591" y1="34631" x2="83636" y2="45908"/>
                        <a14:foregroundMark x1="83636" y1="45908" x2="80682" y2="61776"/>
                        <a14:foregroundMark x1="80682" y1="61776" x2="85591" y2="61776"/>
                        <a14:foregroundMark x1="85591" y1="61776" x2="85773" y2="28443"/>
                        <a14:foregroundMark x1="85773" y1="28443" x2="80864" y2="11776"/>
                        <a14:foregroundMark x1="80864" y1="11776" x2="79136" y2="26846"/>
                        <a14:foregroundMark x1="79136" y1="26846" x2="87818" y2="38024"/>
                        <a14:foregroundMark x1="87818" y1="38024" x2="93091" y2="26148"/>
                        <a14:foregroundMark x1="93091" y1="26148" x2="92818" y2="12774"/>
                        <a14:foregroundMark x1="92818" y1="12774" x2="88909" y2="5988"/>
                        <a14:foregroundMark x1="88909" y1="5988" x2="83318" y2="7485"/>
                        <a14:foregroundMark x1="83318" y1="7485" x2="78500" y2="18263"/>
                        <a14:foregroundMark x1="78500" y1="18263" x2="81773" y2="31936"/>
                        <a14:foregroundMark x1="81773" y1="31936" x2="88500" y2="26946"/>
                        <a14:foregroundMark x1="88500" y1="26946" x2="89818" y2="7984"/>
                        <a14:foregroundMark x1="89818" y1="7984" x2="81909" y2="2196"/>
                        <a14:foregroundMark x1="81909" y1="2196" x2="80182" y2="13074"/>
                        <a14:foregroundMark x1="80182" y1="13074" x2="88500" y2="19760"/>
                        <a14:foregroundMark x1="88500" y1="19760" x2="91455" y2="12475"/>
                        <a14:foregroundMark x1="91455" y1="12475" x2="86182" y2="6786"/>
                        <a14:foregroundMark x1="86182" y1="6786" x2="82000" y2="10479"/>
                        <a14:foregroundMark x1="84591" y1="14371" x2="83682" y2="36028"/>
                        <a14:foregroundMark x1="83682" y1="36028" x2="80591" y2="49501"/>
                        <a14:foregroundMark x1="80591" y1="49501" x2="75409" y2="55988"/>
                        <a14:foregroundMark x1="75409" y1="55988" x2="20045" y2="39621"/>
                        <a14:foregroundMark x1="20045" y1="39621" x2="58409" y2="44411"/>
                        <a14:foregroundMark x1="58409" y1="44411" x2="53091" y2="39122"/>
                        <a14:foregroundMark x1="53091" y1="39122" x2="45364" y2="43613"/>
                        <a14:foregroundMark x1="45364" y1="43613" x2="48727" y2="56487"/>
                        <a14:foregroundMark x1="48727" y1="56487" x2="55091" y2="62974"/>
                        <a14:foregroundMark x1="55091" y1="62974" x2="45591" y2="59780"/>
                        <a14:foregroundMark x1="45591" y1="59780" x2="46773" y2="69860"/>
                        <a14:foregroundMark x1="46773" y1="69860" x2="50591" y2="63074"/>
                        <a14:foregroundMark x1="50591" y1="63074" x2="40318" y2="56587"/>
                        <a14:foregroundMark x1="40318" y1="56587" x2="43773" y2="68663"/>
                        <a14:foregroundMark x1="43773" y1="68663" x2="45136" y2="57285"/>
                        <a14:foregroundMark x1="45136" y1="57285" x2="38909" y2="52894"/>
                        <a14:foregroundMark x1="38909" y1="52894" x2="41455" y2="66866"/>
                        <a14:foregroundMark x1="41455" y1="66866" x2="48636" y2="58782"/>
                        <a14:foregroundMark x1="48636" y1="58782" x2="49727" y2="56088"/>
                        <a14:foregroundMark x1="90818" y1="49002" x2="94000" y2="18263"/>
                        <a14:foregroundMark x1="94000" y1="18263" x2="93273" y2="49800"/>
                        <a14:foregroundMark x1="93273" y1="49800" x2="98545" y2="7186"/>
                        <a14:foregroundMark x1="98545" y1="7186" x2="96318" y2="35329"/>
                        <a14:foregroundMark x1="96318" y1="35329" x2="99136" y2="7685"/>
                        <a14:foregroundMark x1="99136" y1="7685" x2="98409" y2="38124"/>
                        <a14:foregroundMark x1="98409" y1="38124" x2="98864" y2="20459"/>
                        <a14:foregroundMark x1="98864" y1="20459" x2="98409" y2="58683"/>
                        <a14:foregroundMark x1="95455" y1="49900" x2="89091" y2="67764"/>
                        <a14:foregroundMark x1="89091" y1="67764" x2="84864" y2="74052"/>
                        <a14:foregroundMark x1="84864" y1="74052" x2="82591" y2="83333"/>
                        <a14:foregroundMark x1="82591" y1="83333" x2="85091" y2="74850"/>
                        <a14:foregroundMark x1="85091" y1="74850" x2="84364" y2="78543"/>
                        <a14:foregroundMark x1="93136" y1="8483" x2="99455" y2="7285"/>
                        <a14:foregroundMark x1="98818" y1="8483" x2="96227" y2="6487"/>
                        <a14:foregroundMark x1="85136" y1="81637" x2="82818" y2="81936"/>
                        <a14:foregroundMark x1="40818" y1="73154" x2="55364" y2="73653"/>
                        <a14:foregroundMark x1="55364" y1="73653" x2="62864" y2="73453"/>
                        <a14:foregroundMark x1="62864" y1="73453" x2="81045" y2="73653"/>
                        <a14:foregroundMark x1="81045" y1="73653" x2="83182" y2="72854"/>
                        <a14:backgroundMark x1="75182" y1="99501" x2="86227" y2="99701"/>
                        <a14:backgroundMark x1="86227" y1="99701" x2="94182" y2="98503"/>
                        <a14:backgroundMark x1="94182" y1="98503" x2="89909" y2="93014"/>
                        <a14:backgroundMark x1="89909" y1="93014" x2="88091" y2="99800"/>
                        <a14:backgroundMark x1="97000" y1="95010" x2="92727" y2="98902"/>
                        <a14:backgroundMark x1="92727" y1="98902" x2="98818" y2="85329"/>
                        <a14:backgroundMark x1="98818" y1="85329" x2="93136" y2="88723"/>
                        <a14:backgroundMark x1="93136" y1="88723" x2="95455" y2="95309"/>
                        <a14:backgroundMark x1="91182" y1="88124" x2="99727" y2="75948"/>
                        <a14:backgroundMark x1="98182" y1="3892" x2="88682" y2="2295"/>
                        <a14:backgroundMark x1="88682" y1="2295" x2="85364" y2="200"/>
                        <a14:backgroundMark x1="80091" y1="93014" x2="60364" y2="93313"/>
                        <a14:backgroundMark x1="60364" y1="93313" x2="51909" y2="99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302" y="1113982"/>
            <a:ext cx="10619395" cy="483665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12CCB-0FD7-33C5-A5F1-40770E5E9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Analog Frontend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BA026-5C46-347C-975E-C4DD34A6935B}"/>
              </a:ext>
            </a:extLst>
          </p:cNvPr>
          <p:cNvSpPr txBox="1"/>
          <p:nvPr/>
        </p:nvSpPr>
        <p:spPr>
          <a:xfrm>
            <a:off x="786302" y="1303616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7F137-F093-C0EB-D284-D98C81ED9843}"/>
              </a:ext>
            </a:extLst>
          </p:cNvPr>
          <p:cNvSpPr txBox="1"/>
          <p:nvPr/>
        </p:nvSpPr>
        <p:spPr>
          <a:xfrm>
            <a:off x="786302" y="1794772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7B0EE-82CF-67F5-7098-A4965F0A7742}"/>
              </a:ext>
            </a:extLst>
          </p:cNvPr>
          <p:cNvSpPr txBox="1"/>
          <p:nvPr/>
        </p:nvSpPr>
        <p:spPr>
          <a:xfrm>
            <a:off x="786302" y="2285928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1CAE9-BDED-E36E-2278-424BA78B078F}"/>
              </a:ext>
            </a:extLst>
          </p:cNvPr>
          <p:cNvSpPr txBox="1"/>
          <p:nvPr/>
        </p:nvSpPr>
        <p:spPr>
          <a:xfrm>
            <a:off x="555867" y="2751826"/>
            <a:ext cx="91612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(unused)</a:t>
            </a:r>
          </a:p>
        </p:txBody>
      </p:sp>
    </p:spTree>
    <p:extLst>
      <p:ext uri="{BB962C8B-B14F-4D97-AF65-F5344CB8AC3E}">
        <p14:creationId xmlns:p14="http://schemas.microsoft.com/office/powerpoint/2010/main" val="328325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2EAE85-0D67-E367-89A1-306CF0DF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rectangular with many lines and arrows&#10;&#10;AI-generated content may be incorrect.">
            <a:extLst>
              <a:ext uri="{FF2B5EF4-FFF2-40B4-BE49-F238E27FC236}">
                <a16:creationId xmlns:a16="http://schemas.microsoft.com/office/drawing/2014/main" id="{8CD8360D-6351-FF0C-7D11-C7B74ACC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11" y="703150"/>
            <a:ext cx="7425885" cy="500815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07A52-2A51-5F03-27EE-97FFCB1F3F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ADC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644EC-D2BE-E96F-88BF-973BD09453FF}"/>
              </a:ext>
            </a:extLst>
          </p:cNvPr>
          <p:cNvSpPr txBox="1"/>
          <p:nvPr/>
        </p:nvSpPr>
        <p:spPr>
          <a:xfrm>
            <a:off x="2166424" y="2478661"/>
            <a:ext cx="745587" cy="12772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ADC 1.1</a:t>
            </a:r>
            <a:br>
              <a:rPr lang="en-US" sz="1100" dirty="0"/>
            </a:br>
            <a:r>
              <a:rPr lang="en-US" sz="1100" dirty="0"/>
              <a:t>ADC 1.2</a:t>
            </a:r>
            <a:br>
              <a:rPr lang="en-US" sz="1100" dirty="0"/>
            </a:br>
            <a:r>
              <a:rPr lang="en-US" sz="1100" dirty="0"/>
              <a:t>ADC 1.3</a:t>
            </a:r>
          </a:p>
          <a:p>
            <a:pPr algn="r"/>
            <a:r>
              <a:rPr lang="en-US" sz="1100" dirty="0"/>
              <a:t>ADC 1.4</a:t>
            </a:r>
          </a:p>
          <a:p>
            <a:pPr algn="r"/>
            <a:r>
              <a:rPr lang="en-US" sz="1100" dirty="0"/>
              <a:t>ADC 2.1</a:t>
            </a:r>
          </a:p>
          <a:p>
            <a:pPr algn="r"/>
            <a:r>
              <a:rPr lang="en-US" sz="1100" dirty="0"/>
              <a:t>ADC 2.2</a:t>
            </a:r>
          </a:p>
          <a:p>
            <a:pPr algn="r"/>
            <a:r>
              <a:rPr lang="en-US" sz="11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9151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10B9F9-D2F4-B0A8-C307-52167E3A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many numbers and symbols&#10;&#10;AI-generated content may be incorrect.">
            <a:extLst>
              <a:ext uri="{FF2B5EF4-FFF2-40B4-BE49-F238E27FC236}">
                <a16:creationId xmlns:a16="http://schemas.microsoft.com/office/drawing/2014/main" id="{4007FD0A-2CF6-7CD7-8D27-A202F385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12" y="284002"/>
            <a:ext cx="4242776" cy="55707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34E51-61A6-C6DC-E05A-846421F9A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141412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373C75-F9A1-6578-A3BF-69D3BA34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05F05-585E-2D58-2B64-16B8A1FE65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Power Supply</a:t>
            </a:r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3B8A7A33-8653-486C-08BF-613E57A7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b="32032"/>
          <a:stretch>
            <a:fillRect/>
          </a:stretch>
        </p:blipFill>
        <p:spPr>
          <a:xfrm>
            <a:off x="898181" y="1311787"/>
            <a:ext cx="5197819" cy="4611412"/>
          </a:xfrm>
          <a:prstGeom prst="rect">
            <a:avLst/>
          </a:prstGeom>
        </p:spPr>
      </p:pic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88B2B533-999F-4A19-53CE-9D13D07D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t="68355" b="335"/>
          <a:stretch>
            <a:fillRect/>
          </a:stretch>
        </p:blipFill>
        <p:spPr>
          <a:xfrm>
            <a:off x="6368168" y="2555382"/>
            <a:ext cx="5197819" cy="2124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3AD9D-7FC9-D963-4FCF-6348145F287D}"/>
              </a:ext>
            </a:extLst>
          </p:cNvPr>
          <p:cNvSpPr txBox="1"/>
          <p:nvPr/>
        </p:nvSpPr>
        <p:spPr>
          <a:xfrm>
            <a:off x="872199" y="1253733"/>
            <a:ext cx="20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(3.3V)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36F12-E73A-FD9B-0A74-7289701431C8}"/>
              </a:ext>
            </a:extLst>
          </p:cNvPr>
          <p:cNvSpPr txBox="1"/>
          <p:nvPr/>
        </p:nvSpPr>
        <p:spPr>
          <a:xfrm>
            <a:off x="870291" y="3553295"/>
            <a:ext cx="190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(5V)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11E2F-ACA4-1BBE-0890-80FBC9E43B68}"/>
              </a:ext>
            </a:extLst>
          </p:cNvPr>
          <p:cNvSpPr txBox="1"/>
          <p:nvPr/>
        </p:nvSpPr>
        <p:spPr>
          <a:xfrm>
            <a:off x="6340032" y="223381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 Supply (3.3V)</a:t>
            </a:r>
          </a:p>
        </p:txBody>
      </p:sp>
    </p:spTree>
    <p:extLst>
      <p:ext uri="{BB962C8B-B14F-4D97-AF65-F5344CB8AC3E}">
        <p14:creationId xmlns:p14="http://schemas.microsoft.com/office/powerpoint/2010/main" val="360455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71C0E7-C360-D4A4-BFEB-99587897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57F80-49BF-058F-E468-C8D1A4B90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DC Input Protection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3939463-2711-8D1A-38B8-83885245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7" r="49414" b="52027"/>
          <a:stretch>
            <a:fillRect/>
          </a:stretch>
        </p:blipFill>
        <p:spPr>
          <a:xfrm>
            <a:off x="2048118" y="1647555"/>
            <a:ext cx="8095764" cy="356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07884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1547</TotalTime>
  <Words>1175</Words>
  <Application>Microsoft Macintosh PowerPoint</Application>
  <PresentationFormat>Widescreen</PresentationFormat>
  <Paragraphs>133</Paragraphs>
  <Slides>15</Slides>
  <Notes>15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Wingdings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Amon Benson</cp:lastModifiedBy>
  <cp:revision>7</cp:revision>
  <cp:lastPrinted>2021-03-24T16:10:50Z</cp:lastPrinted>
  <dcterms:created xsi:type="dcterms:W3CDTF">2023-04-20T08:54:03Z</dcterms:created>
  <dcterms:modified xsi:type="dcterms:W3CDTF">2026-07-08T08:38:10Z</dcterms:modified>
</cp:coreProperties>
</file>